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Savartus/Netzon model specification table in chat. Common platform capabilities summarized from uploaded oRAID 150/288 Compact Units deck, including S3 service, disk plus Blu-ray hybrid architecture, optical RAID, self-healing, energy-management, and service/support content. Product image is a conceptual rendering unless supplied as a specific product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4A8A"/>
          </a:solidFill>
          <a:ln w="12700">
            <a:solidFill>
              <a:srgbClr val="0E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Optical Storage Appliance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shot_of_a_black_charcoal_se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Edge, lab, departmental, or branch-office archive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evidence, records, imaging, and project repositories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active archive with a cache-first access model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deployments before scaling to larger ELS systems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4A8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 | Front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4A8A"/>
          </a:solidFill>
          <a:ln w="12700">
            <a:solidFill>
              <a:srgbClr val="0E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Optical Storage Appliance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HMS2070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cartridges; 50 media per cartridge; 100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TB / 32 TB / 65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450W / 160W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9.4 x 20.3 x 25.4 in; 240 x 515 x 645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n/a; 79 lb / 36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4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 | Back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6B4C"/>
          </a:solidFill>
          <a:ln w="12700">
            <a:solidFill>
              <a:srgbClr val="0E6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ELS500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Rackmount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shot_of_a_large_rack_mounte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374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Departmental active archive and secondary storage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imaging, records, evidence, and content libraries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center deployments where rack density matters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tiering behind applications using S3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374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6B4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 | Front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6B4C"/>
          </a:solidFill>
          <a:ln w="12700">
            <a:solidFill>
              <a:srgbClr val="0E6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ELS500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Rackmount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HDL576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 cartridges; 12 media per cartridge; 576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2; 24 cartridges per magazine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 TB / 187 TB / 374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6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450W / 200W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17.7 x 12.2 x 36 in; 448 x 310 x 930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7U; 177 lb / 80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6B4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ELS-500 | Back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6B4C"/>
          </a:solidFill>
          <a:ln w="12700">
            <a:solidFill>
              <a:srgbClr val="0E6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High-Density Rackmount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shot_of_a_large_rack_mounte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747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1,152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Departmental active archive and secondary storage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imaging, records, evidence, and content libraries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center deployments where rack density matters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tiering behind applications using S3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374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747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6B4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 | Front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E6B4C"/>
          </a:solidFill>
          <a:ln w="12700">
            <a:solidFill>
              <a:srgbClr val="0E6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High-Density Rackmount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HDL1152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cartridges; 12 media per cartridge; 1,152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4; 24 cartridges per magazine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 TB / 374 TB / 747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12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450W / 200W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17.7 x 17.5 x 36 in; 448 x 445 x 930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10U; 352 lb / 160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E6B4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6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ELS-1000 | Back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5633A2"/>
          </a:solidFill>
          <a:ln w="12700">
            <a:solidFill>
              <a:srgbClr val="5633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ELS3600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tall_fre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2,336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active archive and tiered storage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image, video, research, and evidence collections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Cost-controlled long-term retention with fast recall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repositories needing durable media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584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1,168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2,336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5633A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 | Front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5633A2"/>
          </a:solidFill>
          <a:ln w="12700">
            <a:solidFill>
              <a:srgbClr val="5633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ELS3600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HDL3600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cartridges; 12 media per cartridge; 3,600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584 TB / 1,168 TB / 2,336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24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670W / 200W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17.7 x 35 x 43 in; 448 x 890 x 1100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20U; 662 lb / 300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5633A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ELS-3600 | Back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5633A2"/>
          </a:solidFill>
          <a:ln w="12700">
            <a:solidFill>
              <a:srgbClr val="5633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ELS4000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single_la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2,616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4,032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active archive and tiered storage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image, video, research, and evidence collections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Cost-controlled long-term retention with fast recall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repositories needing durable media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654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1,308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2,616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5633A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 | Front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5633A2"/>
          </a:solidFill>
          <a:ln w="12700">
            <a:solidFill>
              <a:srgbClr val="5633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ELS4000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HDL3600A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336 cartridges; 12 media per cartridge; 4,032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14; 24 cartridges per magazine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654 TB / 1,308 TB / 2,616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12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670W / 200W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17.7 x 35 x 43 in; 448 x 890 x 1100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20U; 662 lb / 300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5633A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63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ELS-4000 | Back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82C5F"/>
          </a:solidFill>
          <a:ln w="12700">
            <a:solidFill>
              <a:srgbClr val="082C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ELS8000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Floor-Standing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tall_fre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6,166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active archive repositories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Government, research, healthcare, media, and AI datasets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Petabyte-class optical retention with browser/S3 access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High-density storage for data that must persist for decades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1,542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3,083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6,166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82C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 | Front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82C5F"/>
          </a:solidFill>
          <a:ln w="12700">
            <a:solidFill>
              <a:srgbClr val="082C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ELS8000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Floor-Standing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HDL8640A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792 cartridges; 12 media per cartridge; 9,504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22; 36 cartridges per magazine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1,542 TB / 3,083 TB / 6,166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40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90-300VAC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1500W / 340W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 x 78.74 x 42 in; 600 x 2000 x 1067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45U; 1490 lb / 676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82C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 | Back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82C5F"/>
          </a:solidFill>
          <a:ln w="12700">
            <a:solidFill>
              <a:srgbClr val="082C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Maximum-Capacity Online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single_la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storage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keep important data accessible while preserving it on optical media for resilient long-term storage and lower operating cost.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interface for object-based application integration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or hot-warm tier supports quick access and restore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provides durable, tamper-resistant long-term retention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6,727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10,368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active archive repositories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Government, research, healthcare, media, and AI datasets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Petabyte-class optical retention with browser/S3 access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High-density storage for data that must persist for decades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keeps users working through the cache or hot-warm tier while write strategies move data to optical storage for durable retention.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1,682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3,363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6,727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Disk-level access model with optical-grade retention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integration for applications and migration workflows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long-term power and replacement burden than disk-only retention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82C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| Front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082C5F"/>
          </a:solidFill>
          <a:ln w="12700">
            <a:solidFill>
              <a:srgbClr val="082C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Maximum-Capacity Online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HDL10368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864 cartridges; 12 media per cartridge; 10,368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1,682 TB / 3,363 TB / 6,727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40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1500W / 340W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 x 86.6 x 47.2 in; 600 x 2200 x 1200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50U; 1546 lb / 701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S3 protocol for ingest and application access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Cache/hot-warm tier supports fast reads and restores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Customer-defined write strategies move data to optical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interface supports discovery and restore workflows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tier preserves original data for long-lived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11+1 optical protection and automatic recovery model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sleep/power management reduces ongoing operating cost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repeated disk refresh cycles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is an active archive platform for organizations that need accessible storage today and preservation-grade optical retention for information that must remain trustworthy over time.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082C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| Back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D68000"/>
          </a:solidFill>
          <a:ln w="12700">
            <a:solidFill>
              <a:srgbClr val="D68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ELS8000-OL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tall_fre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Air-gapped optical retention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as an offline optical library for deep retention, physical isolation, and controlled recall when paired with Savartus cache or online optical systems.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 with cache or online ELS systems for active archive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offline magazines/cartridges for air-gapped retention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optical media as the long-lived system of record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6,166 TB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evidence and records retention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Air-gapped backup copy and cyber recovery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preservation of regulated information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vaulting with indexed recall process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uses an online/cache tier for ingest, search, and restore, while the offline library protects optical media in an isolated preservation tier.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1,542 TB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3,083 TB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6,166 TB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gap reduces exposure to ransomware and accidental deletion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supports long-term retention and physical isolation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complement online ELS and cache tiers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D68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 | Front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D68000"/>
          </a:solidFill>
          <a:ln w="12700">
            <a:solidFill>
              <a:srgbClr val="D68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ELS8000-OL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HDL8640 OFF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792 cartridges; 12 media per cartridge; 9,504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1,542 TB / 3,083 TB / 6,166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50W / 50W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 x 78.74 x 42 in; 600 x 2000 x 1200 mm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45U; 1378 lb / 625 kg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behind or alongside Savartus online/cache tiers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deep retention with offline media management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workflow restores required content back to cache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used for cold, preserved, or air-gapped copies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isolation helps reduce cyber and operational risk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supports durable long-term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typical power profile for offline preservation tiers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indexed recall rather than continuous online access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 is the offline preservation tier for organizations that need optical media physically separated from production systems while still participating in a managed active archive workflow.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D68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ELS-8000-OL | Back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D68000"/>
          </a:solidFill>
          <a:ln w="12700">
            <a:solidFill>
              <a:srgbClr val="D68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ELS10K-OL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active archive optical storage for secure long-term retention with fast access through cache, browser, and S3 workflows.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64208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a_clean_studio_product_photo_render_a_single_la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4248"/>
            <a:ext cx="27432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01568" y="1847088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Air-gapped optical retention tier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01568" y="2249424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as an offline optical library for deep retention, physical isolation, and controlled recall when paired with Savartus cache or online optical systems.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3401568" y="2816352"/>
            <a:ext cx="3566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 with cache or online ELS systems for active archive workflows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offline magazines/cartridges for air-gapped retention</a:t>
            </a:r>
            <a:endParaRPr lang="en-US" sz="730" dirty="0"/>
          </a:p>
          <a:p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optical media as the long-lived system of record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3401568" y="3675888"/>
            <a:ext cx="3566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i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details shown as capacity-class draft - confirm final offline specifications.</a:t>
            </a:r>
            <a:endParaRPr lang="en-US" sz="620" dirty="0"/>
          </a:p>
        </p:txBody>
      </p:sp>
      <p:sp>
        <p:nvSpPr>
          <p:cNvPr id="15" name="Shape 12"/>
          <p:cNvSpPr/>
          <p:nvPr/>
        </p:nvSpPr>
        <p:spPr>
          <a:xfrm>
            <a:off x="457200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6,727 TB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352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capacity with 1TB media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1938528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984248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10,368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11680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media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3419856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465576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93008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 drives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4901184" y="46177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46904" y="4700016"/>
            <a:ext cx="1234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50U (confirm)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74336" y="4974336"/>
            <a:ext cx="1179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6382512" y="461772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28232" y="4700016"/>
            <a:ext cx="8229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50W (confirm)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55664" y="4974336"/>
            <a:ext cx="768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energy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41148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built for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0040" y="5897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02920" y="6144768"/>
            <a:ext cx="306324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evidence and records retention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Air-gapped backup copy and cyber recovery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preservation of regulated information</a:t>
            </a:r>
            <a:endParaRPr lang="en-US" sz="720" dirty="0"/>
          </a:p>
          <a:p>
            <a:r>
              <a:rPr lang="en-US" sz="7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vaulting with indexed recall process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977640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archive model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886200" y="5897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114800" y="616305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-&gt; Cache -&gt; Write Strategy -&gt; Optical -&gt; Restore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14800" y="6565392"/>
            <a:ext cx="3063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uses an online/cache tier for ingest, search, and restore, while the offline library protects optical media in an isolated preservation tier.</a:t>
            </a:r>
            <a:endParaRPr lang="en-US" sz="730" dirty="0"/>
          </a:p>
        </p:txBody>
      </p:sp>
      <p:sp>
        <p:nvSpPr>
          <p:cNvPr id="37" name="Text 34"/>
          <p:cNvSpPr/>
          <p:nvPr/>
        </p:nvSpPr>
        <p:spPr>
          <a:xfrm>
            <a:off x="4361688" y="7287768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profile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352544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1,682 TB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352544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200GB media</a:t>
            </a:r>
            <a:endParaRPr lang="en-US" sz="580" dirty="0"/>
          </a:p>
        </p:txBody>
      </p:sp>
      <p:sp>
        <p:nvSpPr>
          <p:cNvPr id="40" name="Text 37"/>
          <p:cNvSpPr/>
          <p:nvPr/>
        </p:nvSpPr>
        <p:spPr>
          <a:xfrm>
            <a:off x="5227320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3,363 TB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227320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500GB media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6102096" y="7507224"/>
            <a:ext cx="874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6,727 TB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102096" y="7726680"/>
            <a:ext cx="874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1TB media</a:t>
            </a:r>
            <a:endParaRPr lang="en-US" sz="580" dirty="0"/>
          </a:p>
        </p:txBody>
      </p:sp>
      <p:sp>
        <p:nvSpPr>
          <p:cNvPr id="44" name="Text 41"/>
          <p:cNvSpPr/>
          <p:nvPr/>
        </p:nvSpPr>
        <p:spPr>
          <a:xfrm>
            <a:off x="411480" y="818388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Savartus ELS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20040" y="8449056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30352" y="8659368"/>
            <a:ext cx="6720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gap reduces exposure to ransomware and accidental deletion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supports long-term retention and physical isolation</a:t>
            </a:r>
            <a:endParaRPr lang="en-US" sz="740" dirty="0"/>
          </a:p>
          <a:p>
            <a:r>
              <a:rPr lang="en-US" sz="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complement online ELS and cache tiers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D680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| Front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8872"/>
          </a:xfrm>
          <a:prstGeom prst="rect">
            <a:avLst/>
          </a:prstGeom>
          <a:solidFill>
            <a:srgbClr val="D68000"/>
          </a:solidFill>
          <a:ln w="12700">
            <a:solidFill>
              <a:srgbClr val="D68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897880" y="22860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Storage Systems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463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ELS10K-OL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Optical 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technical summary and deployment notes. Configure with a cache or hot-warm tier for active archive access and optical retention.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71323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1323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2140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12140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9456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Netzon model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 offline variant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45059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Savartus model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679192" y="252374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77977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5292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Cartridges / media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79192" y="285292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864 cartridges; 12 media per cartridge; 10,368 max media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10896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18211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Magazines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79192" y="318211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24; 36 cartridges per magazine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502920" y="343814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3814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51129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with 200GB / 500GB / 1TB media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679192" y="351129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1,682 TB / 3,363 TB / 6,727 TB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767328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67328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40480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addressable drives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79192" y="3840480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096512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69664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requirements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79192" y="4169664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110-230VAC 50-60Hz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425696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425696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498848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/ typical energy consumption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679192" y="4498848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50W (confirm) / 50W (confirm)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4754880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828032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79192" y="4828032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 x 86.6 x 47.2 in (confirm); 600 x 2200 x 1200 mm (confirm)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02920" y="5084064"/>
            <a:ext cx="2103120" cy="283464"/>
          </a:xfrm>
          <a:prstGeom prst="rect">
            <a:avLst/>
          </a:prstGeom>
          <a:solidFill>
            <a:srgbClr val="F2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5084064"/>
            <a:ext cx="46634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5157216"/>
            <a:ext cx="1956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units / max weight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9192" y="5157216"/>
            <a:ext cx="4517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50U (confirm); 1546 lb (confirm) / 701 kg (confirm)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502920" y="5504688"/>
            <a:ext cx="6583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i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details shown as capacity-class draft - confirm final offline specifications.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41148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model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638251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6629400"/>
            <a:ext cx="30632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behind or alongside Savartus online/cache tiers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deep retention with offline media management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workflow restores required content back to cache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used for cold, preserved, or air-gapped copies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3977640" y="61081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&amp; economics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886200" y="6382512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069080" y="6629400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isolation helps reduce cyber and operational risk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media supports durable long-term retention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typical power profile for offline preservation tiers</a:t>
            </a:r>
            <a:endParaRPr lang="en-US" sz="710" dirty="0"/>
          </a:p>
          <a:p>
            <a:r>
              <a:rPr lang="en-US" sz="71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indexed recall rather than continuous online access</a:t>
            </a:r>
            <a:endParaRPr lang="en-US" sz="710" dirty="0"/>
          </a:p>
        </p:txBody>
      </p:sp>
      <p:sp>
        <p:nvSpPr>
          <p:cNvPr id="58" name="Text 56"/>
          <p:cNvSpPr/>
          <p:nvPr/>
        </p:nvSpPr>
        <p:spPr>
          <a:xfrm>
            <a:off x="411480" y="84856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positioning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0040" y="8759952"/>
            <a:ext cx="7132320" cy="658368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12700">
            <a:solidFill>
              <a:srgbClr val="D8E9F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30352" y="8979408"/>
            <a:ext cx="6720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is the offline preservation tier for organizations that need optical media physically separated from production systems while still participating in a managed active archive workflow.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320040" y="9674352"/>
            <a:ext cx="7132320" cy="0"/>
          </a:xfrm>
          <a:prstGeom prst="line">
            <a:avLst/>
          </a:prstGeom>
          <a:noFill/>
          <a:ln w="15240">
            <a:solidFill>
              <a:srgbClr val="D68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97475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8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Manage. Store. Preserve.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937760" y="9747504"/>
            <a:ext cx="2514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D6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ELS-10K-OL | Back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Savartus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Savartus ELS Product Sell Sheets</dc:title>
  <dc:subject>Savartus ELS optical storage sell sheets</dc:subject>
  <dc:creator>Savartus</dc:creator>
  <cp:lastModifiedBy>Savartus</cp:lastModifiedBy>
  <cp:revision>1</cp:revision>
  <dcterms:created xsi:type="dcterms:W3CDTF">2026-09-10T17:22:15Z</dcterms:created>
  <dcterms:modified xsi:type="dcterms:W3CDTF">2026-09-10T17:22:15Z</dcterms:modified>
</cp:coreProperties>
</file>